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73" r:id="rId2"/>
    <p:sldId id="274" r:id="rId3"/>
    <p:sldId id="309" r:id="rId4"/>
    <p:sldId id="307" r:id="rId5"/>
    <p:sldId id="308" r:id="rId6"/>
    <p:sldId id="283" r:id="rId7"/>
    <p:sldId id="302" r:id="rId8"/>
    <p:sldId id="289" r:id="rId9"/>
    <p:sldId id="288" r:id="rId10"/>
    <p:sldId id="290" r:id="rId11"/>
    <p:sldId id="281" r:id="rId12"/>
    <p:sldId id="303" r:id="rId13"/>
    <p:sldId id="304" r:id="rId14"/>
    <p:sldId id="305" r:id="rId15"/>
    <p:sldId id="297" r:id="rId16"/>
    <p:sldId id="306" r:id="rId17"/>
    <p:sldId id="286" r:id="rId1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Nunito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4" roundtripDataSignature="AMtx7mi5KZqBVyFOyZGVKXZgeyYCjva9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DB3FD3-5873-4E19-84B6-51D0B1350C70}">
  <a:tblStyle styleId="{4DDB3FD3-5873-4E19-84B6-51D0B1350C7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1CA0D77-D254-4515-B6B8-39A0F69D554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154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en Boiteau" userId="75fedcc0-ec4c-450f-940c-e02053007ed4" providerId="ADAL" clId="{F01B5675-43D1-4E4F-B8CF-A3F8EAA3F879}"/>
    <pc:docChg chg="undo custSel modSld">
      <pc:chgData name="Sebastien Boiteau" userId="75fedcc0-ec4c-450f-940c-e02053007ed4" providerId="ADAL" clId="{F01B5675-43D1-4E4F-B8CF-A3F8EAA3F879}" dt="2026-03-23T03:10:49.018" v="25" actId="20577"/>
      <pc:docMkLst>
        <pc:docMk/>
      </pc:docMkLst>
      <pc:sldChg chg="modSp mod">
        <pc:chgData name="Sebastien Boiteau" userId="75fedcc0-ec4c-450f-940c-e02053007ed4" providerId="ADAL" clId="{F01B5675-43D1-4E4F-B8CF-A3F8EAA3F879}" dt="2026-03-23T03:10:49.018" v="25" actId="20577"/>
        <pc:sldMkLst>
          <pc:docMk/>
          <pc:sldMk cId="3500442373" sldId="273"/>
        </pc:sldMkLst>
        <pc:spChg chg="mod">
          <ac:chgData name="Sebastien Boiteau" userId="75fedcc0-ec4c-450f-940c-e02053007ed4" providerId="ADAL" clId="{F01B5675-43D1-4E4F-B8CF-A3F8EAA3F879}" dt="2026-03-23T03:10:49.018" v="25" actId="20577"/>
          <ac:spMkLst>
            <pc:docMk/>
            <pc:sldMk cId="3500442373" sldId="273"/>
            <ac:spMk id="3" creationId="{3A2AE29A-08D3-4FB3-BCA3-A73DE2D53D8B}"/>
          </ac:spMkLst>
        </pc:spChg>
      </pc:sldChg>
      <pc:sldChg chg="modSp mod">
        <pc:chgData name="Sebastien Boiteau" userId="75fedcc0-ec4c-450f-940c-e02053007ed4" providerId="ADAL" clId="{F01B5675-43D1-4E4F-B8CF-A3F8EAA3F879}" dt="2026-03-23T03:09:59.643" v="24" actId="20577"/>
        <pc:sldMkLst>
          <pc:docMk/>
          <pc:sldMk cId="990529122" sldId="304"/>
        </pc:sldMkLst>
        <pc:spChg chg="mod">
          <ac:chgData name="Sebastien Boiteau" userId="75fedcc0-ec4c-450f-940c-e02053007ed4" providerId="ADAL" clId="{F01B5675-43D1-4E4F-B8CF-A3F8EAA3F879}" dt="2026-03-23T03:09:59.643" v="24" actId="20577"/>
          <ac:spMkLst>
            <pc:docMk/>
            <pc:sldMk cId="990529122" sldId="304"/>
            <ac:spMk id="5" creationId="{5BB97E1F-5C22-49D4-37A0-F0EF15F4E44E}"/>
          </ac:spMkLst>
        </pc:spChg>
      </pc:sldChg>
    </pc:docChg>
  </pc:docChgLst>
  <pc:docChgLst>
    <pc:chgData name="Sebastien Boiteau" userId="75fedcc0-ec4c-450f-940c-e02053007ed4" providerId="ADAL" clId="{38DBC909-E7E7-407A-8A92-C2C927722E9F}"/>
    <pc:docChg chg="undo custSel addSld delSld modSld">
      <pc:chgData name="Sebastien Boiteau" userId="75fedcc0-ec4c-450f-940c-e02053007ed4" providerId="ADAL" clId="{38DBC909-E7E7-407A-8A92-C2C927722E9F}" dt="2026-03-18T04:13:05.582" v="903" actId="47"/>
      <pc:docMkLst>
        <pc:docMk/>
      </pc:docMkLst>
      <pc:sldChg chg="addSp modSp mod">
        <pc:chgData name="Sebastien Boiteau" userId="75fedcc0-ec4c-450f-940c-e02053007ed4" providerId="ADAL" clId="{38DBC909-E7E7-407A-8A92-C2C927722E9F}" dt="2026-03-16T08:42:03.289" v="902" actId="1076"/>
        <pc:sldMkLst>
          <pc:docMk/>
          <pc:sldMk cId="340313004" sldId="283"/>
        </pc:sldMkLst>
        <pc:spChg chg="add mod">
          <ac:chgData name="Sebastien Boiteau" userId="75fedcc0-ec4c-450f-940c-e02053007ed4" providerId="ADAL" clId="{38DBC909-E7E7-407A-8A92-C2C927722E9F}" dt="2026-03-16T08:42:03.289" v="902" actId="1076"/>
          <ac:spMkLst>
            <pc:docMk/>
            <pc:sldMk cId="340313004" sldId="283"/>
            <ac:spMk id="3" creationId="{6F6BB676-418B-AEEF-CE74-2989E4EDA219}"/>
          </ac:spMkLst>
        </pc:spChg>
        <pc:spChg chg="mod">
          <ac:chgData name="Sebastien Boiteau" userId="75fedcc0-ec4c-450f-940c-e02053007ed4" providerId="ADAL" clId="{38DBC909-E7E7-407A-8A92-C2C927722E9F}" dt="2026-03-16T08:40:42.350" v="885" actId="14100"/>
          <ac:spMkLst>
            <pc:docMk/>
            <pc:sldMk cId="340313004" sldId="283"/>
            <ac:spMk id="4" creationId="{661B9C77-68B7-D87F-E811-1F841CC4C249}"/>
          </ac:spMkLst>
        </pc:spChg>
      </pc:sldChg>
      <pc:sldChg chg="addSp delSp modSp add mod">
        <pc:chgData name="Sebastien Boiteau" userId="75fedcc0-ec4c-450f-940c-e02053007ed4" providerId="ADAL" clId="{38DBC909-E7E7-407A-8A92-C2C927722E9F}" dt="2026-03-16T08:39:18.974" v="756" actId="113"/>
        <pc:sldMkLst>
          <pc:docMk/>
          <pc:sldMk cId="2499478589" sldId="307"/>
        </pc:sldMkLst>
        <pc:spChg chg="add mod">
          <ac:chgData name="Sebastien Boiteau" userId="75fedcc0-ec4c-450f-940c-e02053007ed4" providerId="ADAL" clId="{38DBC909-E7E7-407A-8A92-C2C927722E9F}" dt="2026-03-16T08:38:41.162" v="749"/>
          <ac:spMkLst>
            <pc:docMk/>
            <pc:sldMk cId="2499478589" sldId="307"/>
            <ac:spMk id="2" creationId="{9BF8C2B9-4FF7-DACD-EA3A-00E4D4D9075C}"/>
          </ac:spMkLst>
        </pc:spChg>
        <pc:spChg chg="mod">
          <ac:chgData name="Sebastien Boiteau" userId="75fedcc0-ec4c-450f-940c-e02053007ed4" providerId="ADAL" clId="{38DBC909-E7E7-407A-8A92-C2C927722E9F}" dt="2026-03-16T07:59:53.656" v="142" actId="20577"/>
          <ac:spMkLst>
            <pc:docMk/>
            <pc:sldMk cId="2499478589" sldId="307"/>
            <ac:spMk id="7" creationId="{609F0FA6-26A2-2CE4-6398-1361A38CDE5A}"/>
          </ac:spMkLst>
        </pc:spChg>
        <pc:spChg chg="mod">
          <ac:chgData name="Sebastien Boiteau" userId="75fedcc0-ec4c-450f-940c-e02053007ed4" providerId="ADAL" clId="{38DBC909-E7E7-407A-8A92-C2C927722E9F}" dt="2026-03-16T08:39:18.974" v="756" actId="113"/>
          <ac:spMkLst>
            <pc:docMk/>
            <pc:sldMk cId="2499478589" sldId="307"/>
            <ac:spMk id="11" creationId="{AD4EB465-A230-5DF9-B078-89C738566901}"/>
          </ac:spMkLst>
        </pc:spChg>
        <pc:picChg chg="add mod">
          <ac:chgData name="Sebastien Boiteau" userId="75fedcc0-ec4c-450f-940c-e02053007ed4" providerId="ADAL" clId="{38DBC909-E7E7-407A-8A92-C2C927722E9F}" dt="2026-03-16T08:12:25.195" v="349" actId="1076"/>
          <ac:picMkLst>
            <pc:docMk/>
            <pc:sldMk cId="2499478589" sldId="307"/>
            <ac:picMk id="2050" creationId="{2A8228F9-139D-103A-D875-E3C14C2B32C9}"/>
          </ac:picMkLst>
        </pc:picChg>
      </pc:sldChg>
      <pc:sldChg chg="addSp delSp modSp add mod">
        <pc:chgData name="Sebastien Boiteau" userId="75fedcc0-ec4c-450f-940c-e02053007ed4" providerId="ADAL" clId="{38DBC909-E7E7-407A-8A92-C2C927722E9F}" dt="2026-03-16T08:05:43.685" v="253" actId="14734"/>
        <pc:sldMkLst>
          <pc:docMk/>
          <pc:sldMk cId="2137018424" sldId="308"/>
        </pc:sldMkLst>
        <pc:spChg chg="mod">
          <ac:chgData name="Sebastien Boiteau" userId="75fedcc0-ec4c-450f-940c-e02053007ed4" providerId="ADAL" clId="{38DBC909-E7E7-407A-8A92-C2C927722E9F}" dt="2026-03-16T08:02:40.911" v="209" actId="20577"/>
          <ac:spMkLst>
            <pc:docMk/>
            <pc:sldMk cId="2137018424" sldId="308"/>
            <ac:spMk id="7" creationId="{7785A6F9-AB94-2549-DC5A-B74A600BDDB0}"/>
          </ac:spMkLst>
        </pc:spChg>
        <pc:graphicFrameChg chg="add mod modGraphic">
          <ac:chgData name="Sebastien Boiteau" userId="75fedcc0-ec4c-450f-940c-e02053007ed4" providerId="ADAL" clId="{38DBC909-E7E7-407A-8A92-C2C927722E9F}" dt="2026-03-16T08:05:43.685" v="253" actId="14734"/>
          <ac:graphicFrameMkLst>
            <pc:docMk/>
            <pc:sldMk cId="2137018424" sldId="308"/>
            <ac:graphicFrameMk id="2" creationId="{AFFEC5F4-07A5-632F-04DB-D8A5E58D8E0A}"/>
          </ac:graphicFrameMkLst>
        </pc:graphicFrameChg>
      </pc:sldChg>
      <pc:sldChg chg="addSp delSp modSp add del mod">
        <pc:chgData name="Sebastien Boiteau" userId="75fedcc0-ec4c-450f-940c-e02053007ed4" providerId="ADAL" clId="{38DBC909-E7E7-407A-8A92-C2C927722E9F}" dt="2026-03-16T08:36:18.610" v="538" actId="20577"/>
        <pc:sldMkLst>
          <pc:docMk/>
          <pc:sldMk cId="2507022915" sldId="309"/>
        </pc:sldMkLst>
        <pc:spChg chg="mod">
          <ac:chgData name="Sebastien Boiteau" userId="75fedcc0-ec4c-450f-940c-e02053007ed4" providerId="ADAL" clId="{38DBC909-E7E7-407A-8A92-C2C927722E9F}" dt="2026-03-16T08:35:52.466" v="477" actId="1076"/>
          <ac:spMkLst>
            <pc:docMk/>
            <pc:sldMk cId="2507022915" sldId="309"/>
            <ac:spMk id="6" creationId="{224926D7-03AF-58D5-3FA3-90810341B822}"/>
          </ac:spMkLst>
        </pc:spChg>
        <pc:spChg chg="add mod">
          <ac:chgData name="Sebastien Boiteau" userId="75fedcc0-ec4c-450f-940c-e02053007ed4" providerId="ADAL" clId="{38DBC909-E7E7-407A-8A92-C2C927722E9F}" dt="2026-03-16T08:36:18.610" v="538" actId="20577"/>
          <ac:spMkLst>
            <pc:docMk/>
            <pc:sldMk cId="2507022915" sldId="309"/>
            <ac:spMk id="9" creationId="{FC092CBF-E757-AAC6-D944-CF61881FE0DE}"/>
          </ac:spMkLst>
        </pc:spChg>
        <pc:picChg chg="add mod">
          <ac:chgData name="Sebastien Boiteau" userId="75fedcc0-ec4c-450f-940c-e02053007ed4" providerId="ADAL" clId="{38DBC909-E7E7-407A-8A92-C2C927722E9F}" dt="2026-03-16T08:35:04.676" v="469" actId="1076"/>
          <ac:picMkLst>
            <pc:docMk/>
            <pc:sldMk cId="2507022915" sldId="309"/>
            <ac:picMk id="8" creationId="{0B84EBBC-9822-8094-2235-66BDA2F43D6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 sz="1400" b="0" i="0" u="none" strike="noStrike" cap="none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AU"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1055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 sz="1400" b="0" i="0" u="none" strike="noStrike" cap="none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AU"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4253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03BF-30B4-2935-772E-2A14E900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72329-388A-B63C-C5F3-CBD95256A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675B5-E229-C295-DCD9-940C201EB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9D089-E56F-1918-6728-6D9A3CFD35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 sz="1400" b="0" i="0" u="none" strike="noStrike" cap="none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AU"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1833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F614-40FB-1735-3BD5-D4072F7D2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0EA69-1605-1765-D078-067A0545C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3561D-791A-726E-9E36-7F344480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B46F4-4810-7B24-AEC9-C845B0C212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 sz="1400" b="0" i="0" u="none" strike="noStrike" cap="none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AU"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7752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ollow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F70AB86-8F1E-44CD-82C9-F9C4926C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15" y="1024232"/>
            <a:ext cx="8444037" cy="8253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700" b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3B8D85-19EE-40D8-B0FC-72738D139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2551" y="2005199"/>
            <a:ext cx="4072690" cy="284954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3B8D85-19EE-40D8-B0FC-72738D13966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7355" y="2005199"/>
            <a:ext cx="4072690" cy="284954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FB649-37D6-4B73-A764-0CED4C460D8B}"/>
              </a:ext>
            </a:extLst>
          </p:cNvPr>
          <p:cNvSpPr txBox="1"/>
          <p:nvPr userDrawn="1"/>
        </p:nvSpPr>
        <p:spPr>
          <a:xfrm>
            <a:off x="8449906" y="4968733"/>
            <a:ext cx="660278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50">
                <a:solidFill>
                  <a:schemeClr val="bg2">
                    <a:lumMod val="25000"/>
                  </a:schemeClr>
                </a:solidFill>
              </a:rPr>
              <a:t>CRICOS No.00213J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E349A-2B1F-49DA-A325-ACDF874FE436}"/>
              </a:ext>
            </a:extLst>
          </p:cNvPr>
          <p:cNvSpPr txBox="1"/>
          <p:nvPr userDrawn="1"/>
        </p:nvSpPr>
        <p:spPr>
          <a:xfrm>
            <a:off x="8449906" y="4968733"/>
            <a:ext cx="660278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50">
                <a:solidFill>
                  <a:schemeClr val="bg2">
                    <a:lumMod val="25000"/>
                  </a:schemeClr>
                </a:solidFill>
              </a:rPr>
              <a:t>CRICOS No.00213J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99CB21-873D-4ABF-8049-7161981ACB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44"/>
          <a:stretch/>
        </p:blipFill>
        <p:spPr>
          <a:xfrm>
            <a:off x="0" y="1"/>
            <a:ext cx="9144000" cy="708422"/>
          </a:xfrm>
          <a:prstGeom prst="rect">
            <a:avLst/>
          </a:prstGeom>
        </p:spPr>
      </p:pic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2F0CFCFF-2A5A-4D19-BDF9-69AD252EA0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85" y="142283"/>
            <a:ext cx="917350" cy="42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8969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0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AF91E70-3997-4D56-947B-3D83747BB7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23" y="6858"/>
            <a:ext cx="9144000" cy="512978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3EBC718-CB29-4686-90A6-7E39E786F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50" y="1437613"/>
            <a:ext cx="5176279" cy="133727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5394E57-F7F4-49AF-BE0F-548F2D97B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050" y="2700104"/>
            <a:ext cx="4471459" cy="6944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1FEE5D5C-AECB-492A-ACA2-55A2B40107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49" y="3886074"/>
            <a:ext cx="2021239" cy="93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7728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359947-8109-4816-9B49-AB100D47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FBF0E-A788-4A26-853C-584D84891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910FD-504B-40AC-8906-8470954F9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11E12-B9E2-4FD9-8F92-F5E87F7D2E26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9322A-F492-48F4-B7E8-44114073B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3B3F9-1198-4973-8C07-FBF621F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3479B-A909-4893-924E-727506B887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2324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hyperlink" Target="https://miro.com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4BAF-9F56-42AD-B814-8D814340E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49" y="921114"/>
            <a:ext cx="7232175" cy="1337273"/>
          </a:xfr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EGH419: Advanced Design and Entrepreneurship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AE29A-08D3-4FB3-BCA3-A73DE2D53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049" y="2391497"/>
            <a:ext cx="8496620" cy="142222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chemeClr val="bg1"/>
                </a:solidFill>
                <a:latin typeface="Nunito"/>
                <a:sym typeface="Nunito"/>
              </a:rPr>
              <a:t>Workshop 6: System Architecture, Trade Studies, WBS and Timeline.</a:t>
            </a:r>
          </a:p>
          <a:p>
            <a:r>
              <a:rPr lang="en-US" sz="2000" dirty="0">
                <a:solidFill>
                  <a:schemeClr val="bg1"/>
                </a:solidFill>
                <a:latin typeface="Nunito"/>
                <a:sym typeface="Nunito"/>
              </a:rPr>
              <a:t>Lecturer: Fernando Vanegas </a:t>
            </a:r>
          </a:p>
          <a:p>
            <a:r>
              <a:rPr lang="en-US" sz="2000" dirty="0">
                <a:solidFill>
                  <a:schemeClr val="bg1"/>
                </a:solidFill>
                <a:latin typeface="Nunito"/>
                <a:sym typeface="Nunito"/>
              </a:rPr>
              <a:t>Tutor: Sebastien Boiteau</a:t>
            </a:r>
          </a:p>
          <a:p>
            <a:endParaRPr lang="en-US" sz="1800" dirty="0">
              <a:solidFill>
                <a:schemeClr val="bg1"/>
              </a:solidFill>
              <a:latin typeface="Nunito"/>
              <a:sym typeface="Nunito"/>
            </a:endParaRPr>
          </a:p>
          <a:p>
            <a:endParaRPr lang="en-AU" sz="18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  <a:p>
            <a:endParaRPr lang="en-A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442373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84FD8C-DF01-F913-E80B-884C571E951B}"/>
              </a:ext>
            </a:extLst>
          </p:cNvPr>
          <p:cNvSpPr txBox="1"/>
          <p:nvPr/>
        </p:nvSpPr>
        <p:spPr>
          <a:xfrm>
            <a:off x="362414" y="1077973"/>
            <a:ext cx="8419172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AU" sz="28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OUTLINE</a:t>
            </a:r>
            <a:endParaRPr lang="en-AU"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278;p2">
            <a:extLst>
              <a:ext uri="{FF2B5EF4-FFF2-40B4-BE49-F238E27FC236}">
                <a16:creationId xmlns:a16="http://schemas.microsoft.com/office/drawing/2014/main" id="{20B600E1-A3BD-FA38-FB20-4576E18B4E64}"/>
              </a:ext>
            </a:extLst>
          </p:cNvPr>
          <p:cNvSpPr txBox="1"/>
          <p:nvPr/>
        </p:nvSpPr>
        <p:spPr>
          <a:xfrm>
            <a:off x="362414" y="1761555"/>
            <a:ext cx="5339139" cy="187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68300">
              <a:buSzPts val="2200"/>
              <a:buFont typeface="Arial"/>
              <a:buAutoNum type="arabicPeriod"/>
            </a:pPr>
            <a:r>
              <a:rPr lang="en-AU" sz="2200" dirty="0"/>
              <a:t>System Architecture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AU" sz="2200" dirty="0"/>
              <a:t>Trade Studies</a:t>
            </a:r>
          </a:p>
          <a:p>
            <a:pPr marL="457200" indent="-368300">
              <a:buSzPts val="2200"/>
              <a:buFont typeface="Arial"/>
              <a:buAutoNum type="arabicPeriod"/>
            </a:pPr>
            <a:r>
              <a:rPr lang="en-AU" sz="2200" dirty="0">
                <a:solidFill>
                  <a:schemeClr val="dk1"/>
                </a:solidFill>
              </a:rPr>
              <a:t>WBS </a:t>
            </a:r>
          </a:p>
          <a:p>
            <a:pPr marL="457200" indent="-368300">
              <a:buSzPts val="2200"/>
              <a:buFont typeface="Arial"/>
              <a:buAutoNum type="arabicPeriod"/>
            </a:pPr>
            <a:r>
              <a:rPr lang="en-AU" sz="2200" dirty="0">
                <a:solidFill>
                  <a:schemeClr val="dk1"/>
                </a:solidFill>
              </a:rPr>
              <a:t>Timeline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AU" sz="2200" dirty="0"/>
              <a:t>Meeting minutes</a:t>
            </a:r>
            <a:endParaRPr sz="2200" dirty="0"/>
          </a:p>
        </p:txBody>
      </p:sp>
      <p:sp>
        <p:nvSpPr>
          <p:cNvPr id="3" name="Google Shape;278;p2">
            <a:extLst>
              <a:ext uri="{FF2B5EF4-FFF2-40B4-BE49-F238E27FC236}">
                <a16:creationId xmlns:a16="http://schemas.microsoft.com/office/drawing/2014/main" id="{08439F56-6F44-87A2-0B48-0B2E56CDA00F}"/>
              </a:ext>
            </a:extLst>
          </p:cNvPr>
          <p:cNvSpPr txBox="1"/>
          <p:nvPr/>
        </p:nvSpPr>
        <p:spPr>
          <a:xfrm>
            <a:off x="7948989" y="1761555"/>
            <a:ext cx="1665194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lvl="0" algn="l" rtl="0">
              <a:spcBef>
                <a:spcPts val="0"/>
              </a:spcBef>
              <a:spcAft>
                <a:spcPts val="0"/>
              </a:spcAft>
              <a:buSzPts val="2200"/>
            </a:pPr>
            <a:r>
              <a:rPr lang="en-AU" sz="2200" dirty="0"/>
              <a:t>30 min</a:t>
            </a: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SzPts val="2200"/>
            </a:pPr>
            <a:r>
              <a:rPr lang="en-AU" sz="2200" dirty="0"/>
              <a:t>30 min</a:t>
            </a: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SzPts val="2200"/>
            </a:pPr>
            <a:r>
              <a:rPr lang="en-AU" sz="2200" dirty="0"/>
              <a:t>20 min</a:t>
            </a: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SzPts val="2200"/>
            </a:pPr>
            <a:r>
              <a:rPr lang="en-AU" sz="2200" dirty="0"/>
              <a:t>20 min</a:t>
            </a: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SzPts val="2200"/>
            </a:pPr>
            <a:r>
              <a:rPr lang="en-AU" sz="2200" dirty="0"/>
              <a:t>10 min</a:t>
            </a: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SzPts val="22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669256028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24DD5-19D1-2F17-F7FF-E6734515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F57007-2AD3-C2C6-4E9F-4A087B8CDBFA}"/>
              </a:ext>
            </a:extLst>
          </p:cNvPr>
          <p:cNvSpPr txBox="1"/>
          <p:nvPr/>
        </p:nvSpPr>
        <p:spPr>
          <a:xfrm>
            <a:off x="362414" y="892974"/>
            <a:ext cx="8419172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AU" sz="2800" b="1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System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926D7-03AF-58D5-3FA3-90810341B822}"/>
              </a:ext>
            </a:extLst>
          </p:cNvPr>
          <p:cNvSpPr txBox="1"/>
          <p:nvPr/>
        </p:nvSpPr>
        <p:spPr>
          <a:xfrm>
            <a:off x="362413" y="4035504"/>
            <a:ext cx="296664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Sandino, J.; Maire, F.; </a:t>
            </a:r>
            <a:r>
              <a:rPr lang="en-AU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Caccetta</a:t>
            </a:r>
            <a:r>
              <a:rPr lang="en-AU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P.; Sanderson, C.; Gonzalez, F. Drone-Based Autonomous Motion Planning System for Outdoor Environments under Object Detection Uncertainty. Remote Sens. 2021, 13, 4481. https://doi.org/10.3390/rs13214481</a:t>
            </a:r>
            <a:endParaRPr lang="en-AU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84EBBC-9822-8094-2235-66BDA2F43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021" y="712753"/>
            <a:ext cx="3936651" cy="44307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092CBF-E757-AAC6-D944-CF61881FE0DE}"/>
              </a:ext>
            </a:extLst>
          </p:cNvPr>
          <p:cNvSpPr txBox="1"/>
          <p:nvPr/>
        </p:nvSpPr>
        <p:spPr>
          <a:xfrm>
            <a:off x="362413" y="1771531"/>
            <a:ext cx="448252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 showing the </a:t>
            </a:r>
            <a:r>
              <a:rPr lang="en-US" dirty="0"/>
              <a:t>overall structure of the entire system</a:t>
            </a: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including its </a:t>
            </a:r>
            <a:r>
              <a:rPr lang="en-US" b="1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components, subsystems, and interactions</a:t>
            </a: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the example of a smart UAV used for search and rescue. </a:t>
            </a:r>
          </a:p>
          <a:p>
            <a:endParaRPr lang="en-US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system architecture should stay high-level 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022915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8054D-7FF3-7980-87E3-69965CCAC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9F0FA6-26A2-2CE4-6398-1361A38CDE5A}"/>
              </a:ext>
            </a:extLst>
          </p:cNvPr>
          <p:cNvSpPr txBox="1"/>
          <p:nvPr/>
        </p:nvSpPr>
        <p:spPr>
          <a:xfrm>
            <a:off x="362414" y="778327"/>
            <a:ext cx="8419172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AU" sz="2800" b="1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Subsystem Architecture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4EB465-A230-5DF9-B078-89C738566901}"/>
              </a:ext>
            </a:extLst>
          </p:cNvPr>
          <p:cNvSpPr txBox="1"/>
          <p:nvPr/>
        </p:nvSpPr>
        <p:spPr>
          <a:xfrm>
            <a:off x="5407238" y="1421261"/>
            <a:ext cx="36189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Subsystem architecture </a:t>
            </a: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describes the internal structure of one subsystem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identified in the system architecture</a:t>
            </a:r>
          </a:p>
          <a:p>
            <a:endParaRPr lang="en-US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the example of an “UAV” subsystem. </a:t>
            </a:r>
          </a:p>
          <a:p>
            <a:endParaRPr lang="en-US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/>
              <a:t>Subsystem architectures should be </a:t>
            </a:r>
            <a:r>
              <a:rPr lang="en-AU" b="1" dirty="0"/>
              <a:t>more detailed</a:t>
            </a:r>
            <a:r>
              <a:rPr lang="en-AU" dirty="0"/>
              <a:t> compared to the system architecture. 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8228F9-139D-103A-D875-E3C14C2B3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1" y="1503218"/>
            <a:ext cx="5104341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F8C2B9-4FF7-DACD-EA3A-00E4D4D9075C}"/>
              </a:ext>
            </a:extLst>
          </p:cNvPr>
          <p:cNvSpPr txBox="1"/>
          <p:nvPr/>
        </p:nvSpPr>
        <p:spPr>
          <a:xfrm>
            <a:off x="5407238" y="4035504"/>
            <a:ext cx="296664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Galvez-Serna, J.; Vanegas, F.; Brar, S.; Sandino, J.; Flannery, D.; Gonzalez, F. UAV4PE: An Open-Source Framework to Plan UAV Autonomous Missions for Planetary Exploration. Drones 2022, 6, 391. https://doi.org/10.3390/drones6120391</a:t>
            </a:r>
            <a:endParaRPr lang="en-AU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478589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801F5-45FF-9467-F563-4ACBE2D0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85A6F9-AB94-2549-DC5A-B74A600BDDB0}"/>
              </a:ext>
            </a:extLst>
          </p:cNvPr>
          <p:cNvSpPr txBox="1"/>
          <p:nvPr/>
        </p:nvSpPr>
        <p:spPr>
          <a:xfrm>
            <a:off x="362414" y="778327"/>
            <a:ext cx="8419172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AU" sz="2800" b="1" dirty="0">
                <a:latin typeface="Nunito"/>
                <a:ea typeface="Nunito"/>
                <a:cs typeface="Nunito"/>
                <a:sym typeface="Nunito"/>
              </a:rPr>
              <a:t>System vs Subsystem architecture </a:t>
            </a:r>
            <a:endParaRPr lang="en-AU" sz="2800" b="1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FEC5F4-07A5-632F-04DB-D8A5E58D8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163808"/>
              </p:ext>
            </p:extLst>
          </p:nvPr>
        </p:nvGraphicFramePr>
        <p:xfrm>
          <a:off x="455467" y="1812449"/>
          <a:ext cx="7886700" cy="21031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37460">
                  <a:extLst>
                    <a:ext uri="{9D8B030D-6E8A-4147-A177-3AD203B41FA5}">
                      <a16:colId xmlns:a16="http://schemas.microsoft.com/office/drawing/2014/main" val="1313348108"/>
                    </a:ext>
                  </a:extLst>
                </a:gridCol>
                <a:gridCol w="2770909">
                  <a:extLst>
                    <a:ext uri="{9D8B030D-6E8A-4147-A177-3AD203B41FA5}">
                      <a16:colId xmlns:a16="http://schemas.microsoft.com/office/drawing/2014/main" val="4030783686"/>
                    </a:ext>
                  </a:extLst>
                </a:gridCol>
                <a:gridCol w="3278331">
                  <a:extLst>
                    <a:ext uri="{9D8B030D-6E8A-4147-A177-3AD203B41FA5}">
                      <a16:colId xmlns:a16="http://schemas.microsoft.com/office/drawing/2014/main" val="4014282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System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Subsystem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53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Entire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One subsystem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385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Level of 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High-level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More detailed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93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Elements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Subsystems and interfaces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Components inside a subsystem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488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Organize the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Design subsystem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750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018424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21DEB-E9B4-5BC9-2E38-2506D672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E8347B-49C1-8F44-B29A-FD19074B57F7}"/>
              </a:ext>
            </a:extLst>
          </p:cNvPr>
          <p:cNvSpPr txBox="1"/>
          <p:nvPr/>
        </p:nvSpPr>
        <p:spPr>
          <a:xfrm>
            <a:off x="362414" y="892974"/>
            <a:ext cx="8419172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AU" sz="2800" b="1" dirty="0">
                <a:latin typeface="Nunito"/>
                <a:sym typeface="Nunito"/>
              </a:rPr>
              <a:t>Group Activity</a:t>
            </a:r>
            <a:endParaRPr lang="en-AU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24;g8d8e4bb77c_0_9">
            <a:extLst>
              <a:ext uri="{FF2B5EF4-FFF2-40B4-BE49-F238E27FC236}">
                <a16:creationId xmlns:a16="http://schemas.microsoft.com/office/drawing/2014/main" id="{661B9C77-68B7-D87F-E811-1F841CC4C249}"/>
              </a:ext>
            </a:extLst>
          </p:cNvPr>
          <p:cNvSpPr txBox="1"/>
          <p:nvPr/>
        </p:nvSpPr>
        <p:spPr>
          <a:xfrm>
            <a:off x="362414" y="1652040"/>
            <a:ext cx="3537641" cy="349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marL="177839" marR="0" lvl="0" indent="-170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Char char="•"/>
            </a:pPr>
            <a:r>
              <a:rPr lang="en-AU" sz="2000" dirty="0"/>
              <a:t>Create the first draft of your system architecture. </a:t>
            </a:r>
          </a:p>
          <a:p>
            <a:pPr marL="177839" marR="0" lvl="0" indent="-170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Char char="•"/>
            </a:pPr>
            <a:r>
              <a:rPr lang="en-AU" sz="2000" dirty="0"/>
              <a:t>Keep your system architecture high-level (generic). Do not get too specific about the components you are using or the interfaces between them. </a:t>
            </a:r>
          </a:p>
          <a:p>
            <a:pPr marL="6840"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</a:pPr>
            <a:endParaRPr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BB676-418B-AEEF-CE74-2989E4EDA219}"/>
              </a:ext>
            </a:extLst>
          </p:cNvPr>
          <p:cNvSpPr txBox="1"/>
          <p:nvPr/>
        </p:nvSpPr>
        <p:spPr>
          <a:xfrm>
            <a:off x="4572000" y="1798810"/>
            <a:ext cx="4572000" cy="2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39" marR="0" lvl="0" indent="-170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Char char="•"/>
            </a:pPr>
            <a:r>
              <a:rPr lang="en-US" sz="2000" b="1" dirty="0">
                <a:highlight>
                  <a:srgbClr val="FFFF00"/>
                </a:highlight>
              </a:rPr>
              <a:t>The system architecture </a:t>
            </a:r>
            <a:r>
              <a:rPr lang="en-US" sz="2000" b="1" dirty="0"/>
              <a:t>in assessment 2 is a </a:t>
            </a:r>
            <a:r>
              <a:rPr lang="en-US" sz="2000" b="1" dirty="0">
                <a:highlight>
                  <a:srgbClr val="FFFF00"/>
                </a:highlight>
              </a:rPr>
              <a:t>GROUP COMPONENT</a:t>
            </a:r>
          </a:p>
          <a:p>
            <a:pPr marL="177839" marR="0" lvl="0" indent="-17099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Char char="•"/>
            </a:pPr>
            <a:endParaRPr lang="en-US" sz="2000" b="1" dirty="0"/>
          </a:p>
          <a:p>
            <a:pPr marL="177839" lvl="0" indent="-170999">
              <a:lnSpc>
                <a:spcPct val="120000"/>
              </a:lnSpc>
              <a:buClrTx/>
              <a:buSzPts val="1500"/>
              <a:buChar char="•"/>
            </a:pPr>
            <a:r>
              <a:rPr lang="en-US" sz="2000" b="1" dirty="0">
                <a:highlight>
                  <a:srgbClr val="00FFFF"/>
                </a:highlight>
              </a:rPr>
              <a:t>The subsystem architecture </a:t>
            </a:r>
            <a:r>
              <a:rPr lang="en-US" sz="2000" b="1" dirty="0"/>
              <a:t>in assessment 2 is an </a:t>
            </a:r>
            <a:r>
              <a:rPr lang="en-US" sz="2000" b="1" dirty="0">
                <a:highlight>
                  <a:srgbClr val="00FFFF"/>
                </a:highlight>
              </a:rPr>
              <a:t>INDIVIDUAL COMPONENT</a:t>
            </a:r>
          </a:p>
        </p:txBody>
      </p:sp>
    </p:spTree>
    <p:extLst>
      <p:ext uri="{BB962C8B-B14F-4D97-AF65-F5344CB8AC3E}">
        <p14:creationId xmlns:p14="http://schemas.microsoft.com/office/powerpoint/2010/main" val="340313004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6176-0373-D1E9-3432-EE188431C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4CE8C9-43A3-26DD-6F49-39DFE7B954F3}"/>
              </a:ext>
            </a:extLst>
          </p:cNvPr>
          <p:cNvSpPr txBox="1"/>
          <p:nvPr/>
        </p:nvSpPr>
        <p:spPr>
          <a:xfrm>
            <a:off x="362414" y="892974"/>
            <a:ext cx="8419172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AU" sz="2800" b="1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Trade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B02C1-A434-97C0-CDCF-75F281DA338D}"/>
              </a:ext>
            </a:extLst>
          </p:cNvPr>
          <p:cNvSpPr txBox="1"/>
          <p:nvPr/>
        </p:nvSpPr>
        <p:spPr>
          <a:xfrm>
            <a:off x="536265" y="1574418"/>
            <a:ext cx="841917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Decision-making study that evaluates different design options to optimize a system’s performance. </a:t>
            </a:r>
          </a:p>
          <a:p>
            <a:endParaRPr lang="en-US" b="1" i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Define the problem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Define constraints</a:t>
            </a:r>
            <a:r>
              <a:rPr lang="en-US" dirty="0"/>
              <a:t>. These are derived from the System Requirements (customer needs </a:t>
            </a:r>
            <a:r>
              <a:rPr lang="en-US" dirty="0">
                <a:sym typeface="Wingdings" panose="05000000000000000000" pitchFamily="2" charset="2"/>
              </a:rPr>
              <a:t> HLOs system requirements</a:t>
            </a:r>
            <a:r>
              <a:rPr lang="en-US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Find several solutions (maximum 5).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Evaluation Criteria </a:t>
            </a:r>
            <a:r>
              <a:rPr lang="en-US" dirty="0"/>
              <a:t>(Criteria that will be used to assess </a:t>
            </a:r>
            <a:r>
              <a:rPr lang="en-US"/>
              <a:t>the solution).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Weight Factors </a:t>
            </a:r>
            <a:r>
              <a:rPr lang="en-US" dirty="0"/>
              <a:t>(Importance of the criteria relative to each other).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Normalization Scale </a:t>
            </a:r>
            <a:r>
              <a:rPr lang="en-US" dirty="0"/>
              <a:t>(This will give us a numerical value for each criteria).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Rank</a:t>
            </a:r>
            <a:r>
              <a:rPr lang="en-US" dirty="0"/>
              <a:t> the solutions.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1223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84F8-9104-1FBC-5B9B-AE332AEA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72C7C1-850B-64F5-6DD3-254AFF90E8D8}"/>
              </a:ext>
            </a:extLst>
          </p:cNvPr>
          <p:cNvSpPr txBox="1"/>
          <p:nvPr/>
        </p:nvSpPr>
        <p:spPr>
          <a:xfrm>
            <a:off x="362414" y="899849"/>
            <a:ext cx="8419172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AU" sz="2800" b="1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Trade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B5DE7-14C5-CB21-EAB8-57DD985BE335}"/>
              </a:ext>
            </a:extLst>
          </p:cNvPr>
          <p:cNvSpPr txBox="1"/>
          <p:nvPr/>
        </p:nvSpPr>
        <p:spPr>
          <a:xfrm>
            <a:off x="536265" y="1574418"/>
            <a:ext cx="84191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</a:t>
            </a:r>
            <a:r>
              <a:rPr lang="en-US" b="1" dirty="0"/>
              <a:t>Purchasing a new phone 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 want to find the best option for a </a:t>
            </a:r>
            <a:r>
              <a:rPr lang="en-US" b="1" dirty="0"/>
              <a:t>new phone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Need to be recent and/or in the </a:t>
            </a:r>
            <a:r>
              <a:rPr lang="en-US" b="1" dirty="0"/>
              <a:t>top 10 best seller of 2023 </a:t>
            </a:r>
            <a:r>
              <a:rPr lang="en-US" dirty="0"/>
              <a:t>and </a:t>
            </a:r>
            <a:r>
              <a:rPr lang="en-US" b="1" dirty="0"/>
              <a:t>512gb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Solutions</a:t>
            </a:r>
            <a:r>
              <a:rPr lang="en-US" dirty="0"/>
              <a:t>: Apple iPhone 15 Pro Max, Apple iPhone 14, Samsung Galaxy S23 Ultra.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Cost, charging time, battery</a:t>
            </a:r>
            <a:r>
              <a:rPr lang="en-US" dirty="0"/>
              <a:t>. 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Weight Factor</a:t>
            </a:r>
            <a:r>
              <a:rPr lang="en-US" dirty="0"/>
              <a:t>: Cost (</a:t>
            </a:r>
            <a:r>
              <a:rPr lang="en-US" b="1" dirty="0"/>
              <a:t>2</a:t>
            </a:r>
            <a:r>
              <a:rPr lang="en-US" dirty="0"/>
              <a:t>), Charging Time (</a:t>
            </a:r>
            <a:r>
              <a:rPr lang="en-US" b="1" dirty="0"/>
              <a:t>3</a:t>
            </a:r>
            <a:r>
              <a:rPr lang="en-US" dirty="0"/>
              <a:t>), Battery (</a:t>
            </a:r>
            <a:r>
              <a:rPr lang="en-US" b="1" dirty="0"/>
              <a:t>1</a:t>
            </a:r>
            <a:r>
              <a:rPr lang="en-US" dirty="0"/>
              <a:t>). </a:t>
            </a:r>
            <a:r>
              <a:rPr lang="en-US" b="1"/>
              <a:t>Most important </a:t>
            </a:r>
            <a:r>
              <a:rPr lang="en-US" b="1" dirty="0"/>
              <a:t>is the highest</a:t>
            </a:r>
            <a:r>
              <a:rPr lang="en-US" dirty="0"/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92850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EA59-E926-62D2-EACE-E07E1F195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858A9AD-2E72-3A02-F13E-934798EE6D23}"/>
              </a:ext>
            </a:extLst>
          </p:cNvPr>
          <p:cNvSpPr txBox="1"/>
          <p:nvPr/>
        </p:nvSpPr>
        <p:spPr>
          <a:xfrm>
            <a:off x="362414" y="892974"/>
            <a:ext cx="8419172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AU" sz="2800" b="1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Trade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976F4-7A6F-6A4C-C012-812781C2D9E6}"/>
              </a:ext>
            </a:extLst>
          </p:cNvPr>
          <p:cNvSpPr txBox="1"/>
          <p:nvPr/>
        </p:nvSpPr>
        <p:spPr>
          <a:xfrm>
            <a:off x="459196" y="1388679"/>
            <a:ext cx="84191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Normalization Scale</a:t>
            </a:r>
            <a:r>
              <a:rPr lang="en-US" dirty="0"/>
              <a:t>: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C23A97-0FCF-87CE-3F09-9980AE866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736080"/>
              </p:ext>
            </p:extLst>
          </p:nvPr>
        </p:nvGraphicFramePr>
        <p:xfrm>
          <a:off x="536264" y="1952439"/>
          <a:ext cx="8148540" cy="621008"/>
        </p:xfrm>
        <a:graphic>
          <a:graphicData uri="http://schemas.openxmlformats.org/drawingml/2006/table">
            <a:tbl>
              <a:tblPr firstRow="1" bandRow="1">
                <a:tableStyleId>{4DDB3FD3-5873-4E19-84B6-51D0B1350C70}</a:tableStyleId>
              </a:tblPr>
              <a:tblGrid>
                <a:gridCol w="1491828">
                  <a:extLst>
                    <a:ext uri="{9D8B030D-6E8A-4147-A177-3AD203B41FA5}">
                      <a16:colId xmlns:a16="http://schemas.microsoft.com/office/drawing/2014/main" val="4070592299"/>
                    </a:ext>
                  </a:extLst>
                </a:gridCol>
                <a:gridCol w="1224352">
                  <a:extLst>
                    <a:ext uri="{9D8B030D-6E8A-4147-A177-3AD203B41FA5}">
                      <a16:colId xmlns:a16="http://schemas.microsoft.com/office/drawing/2014/main" val="2443250040"/>
                    </a:ext>
                  </a:extLst>
                </a:gridCol>
                <a:gridCol w="1358090">
                  <a:extLst>
                    <a:ext uri="{9D8B030D-6E8A-4147-A177-3AD203B41FA5}">
                      <a16:colId xmlns:a16="http://schemas.microsoft.com/office/drawing/2014/main" val="1199477461"/>
                    </a:ext>
                  </a:extLst>
                </a:gridCol>
                <a:gridCol w="1358090">
                  <a:extLst>
                    <a:ext uri="{9D8B030D-6E8A-4147-A177-3AD203B41FA5}">
                      <a16:colId xmlns:a16="http://schemas.microsoft.com/office/drawing/2014/main" val="3864714250"/>
                    </a:ext>
                  </a:extLst>
                </a:gridCol>
                <a:gridCol w="1358090">
                  <a:extLst>
                    <a:ext uri="{9D8B030D-6E8A-4147-A177-3AD203B41FA5}">
                      <a16:colId xmlns:a16="http://schemas.microsoft.com/office/drawing/2014/main" val="268394985"/>
                    </a:ext>
                  </a:extLst>
                </a:gridCol>
                <a:gridCol w="1358090">
                  <a:extLst>
                    <a:ext uri="{9D8B030D-6E8A-4147-A177-3AD203B41FA5}">
                      <a16:colId xmlns:a16="http://schemas.microsoft.com/office/drawing/2014/main" val="728967439"/>
                    </a:ext>
                  </a:extLst>
                </a:gridCol>
              </a:tblGrid>
              <a:tr h="316208">
                <a:tc>
                  <a:txBody>
                    <a:bodyPr/>
                    <a:lstStyle/>
                    <a:p>
                      <a:r>
                        <a:rPr lang="en-US" sz="1400" b="1" dirty="0"/>
                        <a:t>Cost (AUD)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500-1000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1000-1500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1500-2000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2000-2500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2500-3000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476916"/>
                  </a:ext>
                </a:extLst>
              </a:tr>
              <a:tr h="252725">
                <a:tc>
                  <a:txBody>
                    <a:bodyPr/>
                    <a:lstStyle/>
                    <a:p>
                      <a:r>
                        <a:rPr lang="en-US" sz="1400" b="1" dirty="0"/>
                        <a:t>Scale 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45579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629C3E-65BC-B4F9-9B53-7597ECAD1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871905"/>
              </p:ext>
            </p:extLst>
          </p:nvPr>
        </p:nvGraphicFramePr>
        <p:xfrm>
          <a:off x="536263" y="2872749"/>
          <a:ext cx="8148540" cy="637186"/>
        </p:xfrm>
        <a:graphic>
          <a:graphicData uri="http://schemas.openxmlformats.org/drawingml/2006/table">
            <a:tbl>
              <a:tblPr firstRow="1" bandRow="1">
                <a:tableStyleId>{4DDB3FD3-5873-4E19-84B6-51D0B1350C70}</a:tableStyleId>
              </a:tblPr>
              <a:tblGrid>
                <a:gridCol w="1468383">
                  <a:extLst>
                    <a:ext uri="{9D8B030D-6E8A-4147-A177-3AD203B41FA5}">
                      <a16:colId xmlns:a16="http://schemas.microsoft.com/office/drawing/2014/main" val="4070592299"/>
                    </a:ext>
                  </a:extLst>
                </a:gridCol>
                <a:gridCol w="1247797">
                  <a:extLst>
                    <a:ext uri="{9D8B030D-6E8A-4147-A177-3AD203B41FA5}">
                      <a16:colId xmlns:a16="http://schemas.microsoft.com/office/drawing/2014/main" val="1199477461"/>
                    </a:ext>
                  </a:extLst>
                </a:gridCol>
                <a:gridCol w="1368234">
                  <a:extLst>
                    <a:ext uri="{9D8B030D-6E8A-4147-A177-3AD203B41FA5}">
                      <a16:colId xmlns:a16="http://schemas.microsoft.com/office/drawing/2014/main" val="3864714250"/>
                    </a:ext>
                  </a:extLst>
                </a:gridCol>
                <a:gridCol w="1347946">
                  <a:extLst>
                    <a:ext uri="{9D8B030D-6E8A-4147-A177-3AD203B41FA5}">
                      <a16:colId xmlns:a16="http://schemas.microsoft.com/office/drawing/2014/main" val="268394985"/>
                    </a:ext>
                  </a:extLst>
                </a:gridCol>
                <a:gridCol w="1358090">
                  <a:extLst>
                    <a:ext uri="{9D8B030D-6E8A-4147-A177-3AD203B41FA5}">
                      <a16:colId xmlns:a16="http://schemas.microsoft.com/office/drawing/2014/main" val="728967439"/>
                    </a:ext>
                  </a:extLst>
                </a:gridCol>
                <a:gridCol w="1358090">
                  <a:extLst>
                    <a:ext uri="{9D8B030D-6E8A-4147-A177-3AD203B41FA5}">
                      <a16:colId xmlns:a16="http://schemas.microsoft.com/office/drawing/2014/main" val="2654905869"/>
                    </a:ext>
                  </a:extLst>
                </a:gridCol>
              </a:tblGrid>
              <a:tr h="332386">
                <a:tc>
                  <a:txBody>
                    <a:bodyPr/>
                    <a:lstStyle/>
                    <a:p>
                      <a:r>
                        <a:rPr lang="en-US" sz="1400" b="1" dirty="0"/>
                        <a:t>Battery (days)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0.5-1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1-1.5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1.5-2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2-2.5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2.5-3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476916"/>
                  </a:ext>
                </a:extLst>
              </a:tr>
              <a:tr h="288623">
                <a:tc>
                  <a:txBody>
                    <a:bodyPr/>
                    <a:lstStyle/>
                    <a:p>
                      <a:r>
                        <a:rPr lang="en-US" sz="1400" b="1" dirty="0"/>
                        <a:t>Scale 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45579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EF2455-BAC5-1419-8210-37B9983FB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440705"/>
              </p:ext>
            </p:extLst>
          </p:nvPr>
        </p:nvGraphicFramePr>
        <p:xfrm>
          <a:off x="536262" y="3835674"/>
          <a:ext cx="8148540" cy="621008"/>
        </p:xfrm>
        <a:graphic>
          <a:graphicData uri="http://schemas.openxmlformats.org/drawingml/2006/table">
            <a:tbl>
              <a:tblPr firstRow="1" bandRow="1">
                <a:tableStyleId>{4DDB3FD3-5873-4E19-84B6-51D0B1350C70}</a:tableStyleId>
              </a:tblPr>
              <a:tblGrid>
                <a:gridCol w="1468384">
                  <a:extLst>
                    <a:ext uri="{9D8B030D-6E8A-4147-A177-3AD203B41FA5}">
                      <a16:colId xmlns:a16="http://schemas.microsoft.com/office/drawing/2014/main" val="4070592299"/>
                    </a:ext>
                  </a:extLst>
                </a:gridCol>
                <a:gridCol w="1247796">
                  <a:extLst>
                    <a:ext uri="{9D8B030D-6E8A-4147-A177-3AD203B41FA5}">
                      <a16:colId xmlns:a16="http://schemas.microsoft.com/office/drawing/2014/main" val="1199477461"/>
                    </a:ext>
                  </a:extLst>
                </a:gridCol>
                <a:gridCol w="1368234">
                  <a:extLst>
                    <a:ext uri="{9D8B030D-6E8A-4147-A177-3AD203B41FA5}">
                      <a16:colId xmlns:a16="http://schemas.microsoft.com/office/drawing/2014/main" val="3864714250"/>
                    </a:ext>
                  </a:extLst>
                </a:gridCol>
                <a:gridCol w="1347946">
                  <a:extLst>
                    <a:ext uri="{9D8B030D-6E8A-4147-A177-3AD203B41FA5}">
                      <a16:colId xmlns:a16="http://schemas.microsoft.com/office/drawing/2014/main" val="268394985"/>
                    </a:ext>
                  </a:extLst>
                </a:gridCol>
                <a:gridCol w="1358090">
                  <a:extLst>
                    <a:ext uri="{9D8B030D-6E8A-4147-A177-3AD203B41FA5}">
                      <a16:colId xmlns:a16="http://schemas.microsoft.com/office/drawing/2014/main" val="728967439"/>
                    </a:ext>
                  </a:extLst>
                </a:gridCol>
                <a:gridCol w="1358090">
                  <a:extLst>
                    <a:ext uri="{9D8B030D-6E8A-4147-A177-3AD203B41FA5}">
                      <a16:colId xmlns:a16="http://schemas.microsoft.com/office/drawing/2014/main" val="2654905869"/>
                    </a:ext>
                  </a:extLst>
                </a:gridCol>
              </a:tblGrid>
              <a:tr h="314543">
                <a:tc>
                  <a:txBody>
                    <a:bodyPr/>
                    <a:lstStyle/>
                    <a:p>
                      <a:r>
                        <a:rPr lang="en-US" sz="1400" b="1" dirty="0"/>
                        <a:t>Charge (hours)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0.5-1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1-1.5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1.5-2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2-2.5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2.5-3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476916"/>
                  </a:ext>
                </a:extLst>
              </a:tr>
              <a:tr h="306465">
                <a:tc>
                  <a:txBody>
                    <a:bodyPr/>
                    <a:lstStyle/>
                    <a:p>
                      <a:r>
                        <a:rPr lang="en-US" sz="1400" b="1" dirty="0"/>
                        <a:t>Scale 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455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3343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4EF6F-47C1-6543-AE1A-69FFC792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BEE4A15-6F52-DEC3-8AAB-FB429A599EC6}"/>
              </a:ext>
            </a:extLst>
          </p:cNvPr>
          <p:cNvSpPr txBox="1"/>
          <p:nvPr/>
        </p:nvSpPr>
        <p:spPr>
          <a:xfrm>
            <a:off x="362414" y="892974"/>
            <a:ext cx="8419172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AU" sz="2800" b="1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Trade Studies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22597C-502B-327E-C807-E3A2537CE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323195"/>
              </p:ext>
            </p:extLst>
          </p:nvPr>
        </p:nvGraphicFramePr>
        <p:xfrm>
          <a:off x="494365" y="1383878"/>
          <a:ext cx="4675512" cy="1657328"/>
        </p:xfrm>
        <a:graphic>
          <a:graphicData uri="http://schemas.openxmlformats.org/drawingml/2006/table">
            <a:tbl>
              <a:tblPr firstRow="1" bandRow="1">
                <a:tableStyleId>{4DDB3FD3-5873-4E19-84B6-51D0B1350C70}</a:tableStyleId>
              </a:tblPr>
              <a:tblGrid>
                <a:gridCol w="1784905">
                  <a:extLst>
                    <a:ext uri="{9D8B030D-6E8A-4147-A177-3AD203B41FA5}">
                      <a16:colId xmlns:a16="http://schemas.microsoft.com/office/drawing/2014/main" val="4070592299"/>
                    </a:ext>
                  </a:extLst>
                </a:gridCol>
                <a:gridCol w="931275">
                  <a:extLst>
                    <a:ext uri="{9D8B030D-6E8A-4147-A177-3AD203B41FA5}">
                      <a16:colId xmlns:a16="http://schemas.microsoft.com/office/drawing/2014/main" val="2443250040"/>
                    </a:ext>
                  </a:extLst>
                </a:gridCol>
                <a:gridCol w="1115270">
                  <a:extLst>
                    <a:ext uri="{9D8B030D-6E8A-4147-A177-3AD203B41FA5}">
                      <a16:colId xmlns:a16="http://schemas.microsoft.com/office/drawing/2014/main" val="1199477461"/>
                    </a:ext>
                  </a:extLst>
                </a:gridCol>
                <a:gridCol w="844062">
                  <a:extLst>
                    <a:ext uri="{9D8B030D-6E8A-4147-A177-3AD203B41FA5}">
                      <a16:colId xmlns:a16="http://schemas.microsoft.com/office/drawing/2014/main" val="3864714250"/>
                    </a:ext>
                  </a:extLst>
                </a:gridCol>
              </a:tblGrid>
              <a:tr h="316208">
                <a:tc>
                  <a:txBody>
                    <a:bodyPr/>
                    <a:lstStyle/>
                    <a:p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Price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dirty="0"/>
                        <a:t>(AUD)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Battery 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Charge Time </a:t>
                      </a:r>
                      <a:endParaRPr lang="en-A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41793"/>
                  </a:ext>
                </a:extLst>
              </a:tr>
              <a:tr h="316208">
                <a:tc>
                  <a:txBody>
                    <a:bodyPr/>
                    <a:lstStyle/>
                    <a:p>
                      <a:r>
                        <a:rPr lang="en-US" sz="1400" b="1" dirty="0"/>
                        <a:t>iPhone 15 Pro Max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2549.00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days 21h 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2h01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476916"/>
                  </a:ext>
                </a:extLst>
              </a:tr>
              <a:tr h="252725">
                <a:tc>
                  <a:txBody>
                    <a:bodyPr/>
                    <a:lstStyle/>
                    <a:p>
                      <a:r>
                        <a:rPr lang="en-US" sz="1400" b="1" dirty="0"/>
                        <a:t>iPhone 14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1849.00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days 5h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1h56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455796"/>
                  </a:ext>
                </a:extLst>
              </a:tr>
              <a:tr h="252725">
                <a:tc>
                  <a:txBody>
                    <a:bodyPr/>
                    <a:lstStyle/>
                    <a:p>
                      <a:r>
                        <a:rPr lang="en-AU" sz="1400" b="1" dirty="0"/>
                        <a:t>Samsung Galaxy A14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2249.00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 days 19h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1h21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611735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1DFC29-E43F-EF3B-3B1A-C0E63891E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712791"/>
              </p:ext>
            </p:extLst>
          </p:nvPr>
        </p:nvGraphicFramePr>
        <p:xfrm>
          <a:off x="494365" y="3224401"/>
          <a:ext cx="4675512" cy="1657328"/>
        </p:xfrm>
        <a:graphic>
          <a:graphicData uri="http://schemas.openxmlformats.org/drawingml/2006/table">
            <a:tbl>
              <a:tblPr firstRow="1" bandRow="1">
                <a:tableStyleId>{4DDB3FD3-5873-4E19-84B6-51D0B1350C70}</a:tableStyleId>
              </a:tblPr>
              <a:tblGrid>
                <a:gridCol w="1784905">
                  <a:extLst>
                    <a:ext uri="{9D8B030D-6E8A-4147-A177-3AD203B41FA5}">
                      <a16:colId xmlns:a16="http://schemas.microsoft.com/office/drawing/2014/main" val="4070592299"/>
                    </a:ext>
                  </a:extLst>
                </a:gridCol>
                <a:gridCol w="931275">
                  <a:extLst>
                    <a:ext uri="{9D8B030D-6E8A-4147-A177-3AD203B41FA5}">
                      <a16:colId xmlns:a16="http://schemas.microsoft.com/office/drawing/2014/main" val="2443250040"/>
                    </a:ext>
                  </a:extLst>
                </a:gridCol>
                <a:gridCol w="1115270">
                  <a:extLst>
                    <a:ext uri="{9D8B030D-6E8A-4147-A177-3AD203B41FA5}">
                      <a16:colId xmlns:a16="http://schemas.microsoft.com/office/drawing/2014/main" val="1199477461"/>
                    </a:ext>
                  </a:extLst>
                </a:gridCol>
                <a:gridCol w="844062">
                  <a:extLst>
                    <a:ext uri="{9D8B030D-6E8A-4147-A177-3AD203B41FA5}">
                      <a16:colId xmlns:a16="http://schemas.microsoft.com/office/drawing/2014/main" val="3864714250"/>
                    </a:ext>
                  </a:extLst>
                </a:gridCol>
              </a:tblGrid>
              <a:tr h="316208">
                <a:tc>
                  <a:txBody>
                    <a:bodyPr/>
                    <a:lstStyle/>
                    <a:p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Price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dirty="0"/>
                        <a:t>(scale)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Battery (scale)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Charge (scale) </a:t>
                      </a:r>
                      <a:endParaRPr lang="en-AU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41793"/>
                  </a:ext>
                </a:extLst>
              </a:tr>
              <a:tr h="316208">
                <a:tc>
                  <a:txBody>
                    <a:bodyPr/>
                    <a:lstStyle/>
                    <a:p>
                      <a:r>
                        <a:rPr lang="en-US" sz="1400" b="1" dirty="0"/>
                        <a:t>iPhone 15 Pro Max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476916"/>
                  </a:ext>
                </a:extLst>
              </a:tr>
              <a:tr h="252725">
                <a:tc>
                  <a:txBody>
                    <a:bodyPr/>
                    <a:lstStyle/>
                    <a:p>
                      <a:r>
                        <a:rPr lang="en-US" sz="1400" b="1" dirty="0"/>
                        <a:t>iPhone 14</a:t>
                      </a:r>
                      <a:endParaRPr lang="en-A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455796"/>
                  </a:ext>
                </a:extLst>
              </a:tr>
              <a:tr h="252725">
                <a:tc>
                  <a:txBody>
                    <a:bodyPr/>
                    <a:lstStyle/>
                    <a:p>
                      <a:r>
                        <a:rPr lang="en-AU" sz="1400" b="1" dirty="0"/>
                        <a:t>Samsung Galaxy A14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61173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EAB729-F0C0-2F45-75F6-09B94E2346AA}"/>
                  </a:ext>
                </a:extLst>
              </p:cNvPr>
              <p:cNvSpPr txBox="1"/>
              <p:nvPr/>
            </p:nvSpPr>
            <p:spPr>
              <a:xfrm>
                <a:off x="5301828" y="1383878"/>
                <a:ext cx="3845169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highlight>
                      <a:srgbClr val="FFFF00"/>
                    </a:highlight>
                  </a:rPr>
                  <a:t>Weight</a:t>
                </a:r>
                <a:r>
                  <a:rPr lang="en-US" dirty="0"/>
                  <a:t>	</a:t>
                </a:r>
                <a:r>
                  <a:rPr lang="en-US" dirty="0">
                    <a:highlight>
                      <a:srgbClr val="00FF00"/>
                    </a:highlight>
                  </a:rPr>
                  <a:t>Scale</a:t>
                </a:r>
              </a:p>
              <a:p>
                <a:endParaRPr lang="en-US" dirty="0">
                  <a:highlight>
                    <a:srgbClr val="00FF00"/>
                  </a:highlight>
                </a:endParaRPr>
              </a:p>
              <a:p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AU" dirty="0"/>
                  <a:t> </a:t>
                </a:r>
                <a:r>
                  <a:rPr lang="en-US" b="1" dirty="0"/>
                  <a:t>Price</a:t>
                </a:r>
                <a:r>
                  <a:rPr lang="en-US" dirty="0"/>
                  <a:t>       </a:t>
                </a:r>
                <a:r>
                  <a:rPr lang="en-US" b="1" dirty="0"/>
                  <a:t>Battery</a:t>
                </a:r>
                <a:r>
                  <a:rPr lang="en-US" dirty="0"/>
                  <a:t>    </a:t>
                </a:r>
                <a:r>
                  <a:rPr lang="en-US" b="1" dirty="0"/>
                  <a:t>Charge</a:t>
                </a:r>
                <a:endParaRPr lang="en-US" b="1" dirty="0">
                  <a:highlight>
                    <a:srgbClr val="FFFF00"/>
                  </a:highlight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0" dirty="0">
                  <a:highlight>
                    <a:srgbClr val="FFFF00"/>
                  </a:highlight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b="1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iPhone 15: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=13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b="1" dirty="0"/>
                  <a:t>iPhone 14</a:t>
                </a:r>
                <a:r>
                  <a:rPr lang="en-AU" b="1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=19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b="1" dirty="0"/>
                  <a:t>Samsung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=21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b="1" dirty="0"/>
                  <a:t>Based on our evaluation criteria, weight factors and the </a:t>
                </a:r>
                <a:r>
                  <a:rPr lang="en-US" b="1" dirty="0"/>
                  <a:t>normalization scale, the most performant phone for us is the Samsung.</a:t>
                </a:r>
                <a:endParaRPr lang="en-AU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EAB729-F0C0-2F45-75F6-09B94E234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828" y="1383878"/>
                <a:ext cx="3845169" cy="3539430"/>
              </a:xfrm>
              <a:prstGeom prst="rect">
                <a:avLst/>
              </a:prstGeom>
              <a:blipFill>
                <a:blip r:embed="rId2"/>
                <a:stretch>
                  <a:fillRect l="-476" t="-344" b="-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024455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CBB6F-3292-FF67-9A9F-84089F657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CFD5A4-83A8-956D-CFED-DF6ACBC7F451}"/>
              </a:ext>
            </a:extLst>
          </p:cNvPr>
          <p:cNvSpPr txBox="1"/>
          <p:nvPr/>
        </p:nvSpPr>
        <p:spPr>
          <a:xfrm>
            <a:off x="362414" y="892974"/>
            <a:ext cx="8419172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AU" sz="2800" b="1" dirty="0">
                <a:latin typeface="Nunito"/>
                <a:sym typeface="Nunito"/>
              </a:rPr>
              <a:t>Group Activity</a:t>
            </a:r>
            <a:endParaRPr lang="en-AU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24;g8d8e4bb77c_0_9">
            <a:extLst>
              <a:ext uri="{FF2B5EF4-FFF2-40B4-BE49-F238E27FC236}">
                <a16:creationId xmlns:a16="http://schemas.microsoft.com/office/drawing/2014/main" id="{C63B4138-A578-5718-30C6-438ACF538B0D}"/>
              </a:ext>
            </a:extLst>
          </p:cNvPr>
          <p:cNvSpPr txBox="1"/>
          <p:nvPr/>
        </p:nvSpPr>
        <p:spPr>
          <a:xfrm>
            <a:off x="362414" y="1652039"/>
            <a:ext cx="7790700" cy="340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Define a problem for your product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Define the constraints 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Find 3 solutions 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Define your evaluation criteria 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Define weight factors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Define normalization scale 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endParaRPr lang="en-US" sz="2000" dirty="0"/>
          </a:p>
          <a:p>
            <a:pPr marL="464040" indent="-457200">
              <a:lnSpc>
                <a:spcPct val="120000"/>
              </a:lnSpc>
              <a:buClrTx/>
              <a:buSzPts val="1500"/>
              <a:buFont typeface="+mj-lt"/>
              <a:buAutoNum type="arabicPeriod"/>
            </a:pPr>
            <a:r>
              <a:rPr lang="en-US" sz="2000" b="1" dirty="0"/>
              <a:t>This section in assessment 2 is INDIVIDUAL. One trade study per person.  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endParaRPr lang="en-US" sz="2000" dirty="0"/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190133058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84FD8C-DF01-F913-E80B-884C571E951B}"/>
              </a:ext>
            </a:extLst>
          </p:cNvPr>
          <p:cNvSpPr txBox="1"/>
          <p:nvPr/>
        </p:nvSpPr>
        <p:spPr>
          <a:xfrm>
            <a:off x="362414" y="892974"/>
            <a:ext cx="8419172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AU" sz="28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Work Breakdown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F291B-70EC-7BE5-83C6-1C7248CBE3EB}"/>
              </a:ext>
            </a:extLst>
          </p:cNvPr>
          <p:cNvSpPr txBox="1"/>
          <p:nvPr/>
        </p:nvSpPr>
        <p:spPr>
          <a:xfrm>
            <a:off x="362414" y="1553792"/>
            <a:ext cx="84191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Work Breakdown Structure (WBS) is a </a:t>
            </a: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hierarchical outline of tasks and outputs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needed to complete a project. It covers all the elements of the system </a:t>
            </a: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across its life cycle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subject, your WBS need to show the tasks and output needed to </a:t>
            </a:r>
            <a:r>
              <a:rPr lang="en-US" b="1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your first prototype.</a:t>
            </a:r>
          </a:p>
          <a:p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Entrepreneurship (problem identification / ideation, market research, customer persona…)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Engineering (HLOs, CONOPs, system requirements…) </a:t>
            </a:r>
          </a:p>
          <a:p>
            <a:endParaRPr lang="en-US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the Entrepreneurship and the System Engineering overlap? </a:t>
            </a:r>
          </a:p>
          <a:p>
            <a:endParaRPr lang="en-US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477935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3091-13DF-1C30-7648-0E4A82C95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F16607-EB3F-A58C-A63F-646225FD04D0}"/>
              </a:ext>
            </a:extLst>
          </p:cNvPr>
          <p:cNvSpPr txBox="1"/>
          <p:nvPr/>
        </p:nvSpPr>
        <p:spPr>
          <a:xfrm>
            <a:off x="362414" y="892974"/>
            <a:ext cx="8419172" cy="49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AU" sz="28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Work Breakdown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97E1F-5C22-49D4-37A0-F0EF15F4E44E}"/>
              </a:ext>
            </a:extLst>
          </p:cNvPr>
          <p:cNvSpPr txBox="1"/>
          <p:nvPr/>
        </p:nvSpPr>
        <p:spPr>
          <a:xfrm>
            <a:off x="362414" y="1575583"/>
            <a:ext cx="46427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of a WBS from </a:t>
            </a:r>
            <a:r>
              <a:rPr lang="en-US" b="1" dirty="0"/>
              <a:t>last year</a:t>
            </a:r>
            <a:r>
              <a:rPr lang="en-US" dirty="0"/>
              <a:t>, showing the work packets needed in system engineering to complete their Assessment 2.</a:t>
            </a:r>
          </a:p>
          <a:p>
            <a:endParaRPr lang="en-US" dirty="0"/>
          </a:p>
          <a:p>
            <a:r>
              <a:rPr lang="en-US" b="1" dirty="0"/>
              <a:t>This is just an example. </a:t>
            </a:r>
          </a:p>
          <a:p>
            <a:endParaRPr lang="en-US" b="1" dirty="0"/>
          </a:p>
          <a:p>
            <a:r>
              <a:rPr lang="en-US" dirty="0"/>
              <a:t>You are required to </a:t>
            </a:r>
            <a:r>
              <a:rPr lang="en-US" b="1" dirty="0"/>
              <a:t>define the work packets</a:t>
            </a:r>
            <a:r>
              <a:rPr lang="en-US" dirty="0"/>
              <a:t> you need (entrepreneurship + system engineering) </a:t>
            </a:r>
            <a:r>
              <a:rPr lang="en-US" b="1" dirty="0"/>
              <a:t>to design, test and validate a first working prototype.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7F8B2FC2-0C2C-27FB-3B84-E4F7F9CAF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245" y="735801"/>
            <a:ext cx="3236241" cy="438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2912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5FF5D-37B0-141F-64EF-317B77F1E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9381DA5-B44E-231B-99EA-455E2BC30C79}"/>
              </a:ext>
            </a:extLst>
          </p:cNvPr>
          <p:cNvSpPr txBox="1"/>
          <p:nvPr/>
        </p:nvSpPr>
        <p:spPr>
          <a:xfrm>
            <a:off x="362414" y="892974"/>
            <a:ext cx="8419172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AU" sz="2800" b="1">
                <a:latin typeface="Nunito"/>
                <a:sym typeface="Nunito"/>
              </a:rPr>
              <a:t>Group Activity</a:t>
            </a:r>
            <a:endParaRPr lang="en-AU"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24;g8d8e4bb77c_0_9">
            <a:extLst>
              <a:ext uri="{FF2B5EF4-FFF2-40B4-BE49-F238E27FC236}">
                <a16:creationId xmlns:a16="http://schemas.microsoft.com/office/drawing/2014/main" id="{9709D0C5-C6AA-CB96-A2F8-C0E3436A93EC}"/>
              </a:ext>
            </a:extLst>
          </p:cNvPr>
          <p:cNvSpPr txBox="1"/>
          <p:nvPr/>
        </p:nvSpPr>
        <p:spPr>
          <a:xfrm>
            <a:off x="362414" y="1652040"/>
            <a:ext cx="7790700" cy="3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Draw the first draft of your WBS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What have you done so far in the subject? 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What do you need to do to design/test/validate your first prototype?</a:t>
            </a:r>
          </a:p>
          <a:p>
            <a:pPr marL="464040" indent="-457200">
              <a:lnSpc>
                <a:spcPct val="120000"/>
              </a:lnSpc>
              <a:buClrTx/>
              <a:buSzPts val="1500"/>
              <a:buFont typeface="+mj-lt"/>
              <a:buAutoNum type="arabicPeriod"/>
            </a:pPr>
            <a:r>
              <a:rPr lang="en-US" sz="2000" b="1" dirty="0"/>
              <a:t>This section in assessment 2 is a GROUP COMPONENT</a:t>
            </a:r>
          </a:p>
          <a:p>
            <a:pPr marL="464040" indent="-457200">
              <a:lnSpc>
                <a:spcPct val="120000"/>
              </a:lnSpc>
              <a:buClrTx/>
              <a:buSzPts val="1500"/>
              <a:buFont typeface="+mj-lt"/>
              <a:buAutoNum type="arabicPeriod"/>
            </a:pPr>
            <a:endParaRPr lang="en-US" sz="2000" dirty="0"/>
          </a:p>
          <a:p>
            <a:pPr marL="6840"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</a:pPr>
            <a:r>
              <a:rPr lang="en-US" sz="2000" dirty="0"/>
              <a:t>Useful tools for designing diagrams: </a:t>
            </a:r>
          </a:p>
          <a:p>
            <a:pPr marL="34974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Miro</a:t>
            </a:r>
            <a:r>
              <a:rPr lang="en-US" sz="2000" dirty="0"/>
              <a:t>               </a:t>
            </a:r>
            <a:r>
              <a:rPr lang="en-US" sz="2000" dirty="0">
                <a:hlinkClick r:id="rId3"/>
              </a:rPr>
              <a:t>Draw.io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90981387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8484-DAF2-3A8C-33D9-784EDD36A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7C0B0F3-8BA9-F0BB-0598-52789F5FEBEA}"/>
              </a:ext>
            </a:extLst>
          </p:cNvPr>
          <p:cNvSpPr txBox="1"/>
          <p:nvPr/>
        </p:nvSpPr>
        <p:spPr>
          <a:xfrm>
            <a:off x="362414" y="892974"/>
            <a:ext cx="8419172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AU" sz="2800" b="1">
                <a:latin typeface="Nunito"/>
                <a:sym typeface="Nunito"/>
              </a:rPr>
              <a:t>Timeline </a:t>
            </a:r>
            <a:endParaRPr lang="en-AU"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697F76-48D9-1409-9DD1-9BC273A77FE6}"/>
              </a:ext>
            </a:extLst>
          </p:cNvPr>
          <p:cNvSpPr txBox="1"/>
          <p:nvPr/>
        </p:nvSpPr>
        <p:spPr>
          <a:xfrm>
            <a:off x="362414" y="1655316"/>
            <a:ext cx="854783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6"/>
            <a:r>
              <a:rPr lang="en-US" b="1" dirty="0"/>
              <a:t>Gantt Chart: </a:t>
            </a:r>
            <a:r>
              <a:rPr lang="en-US" dirty="0"/>
              <a:t>Project management tool that shows activities (tasks or events) displayed against time.</a:t>
            </a:r>
          </a:p>
          <a:p>
            <a:pPr marL="342900" lvl="6" indent="-342900">
              <a:buFont typeface="+mj-lt"/>
              <a:buAutoNum type="arabicPeriod"/>
            </a:pPr>
            <a:endParaRPr lang="en-US" dirty="0"/>
          </a:p>
          <a:p>
            <a:pPr lvl="6"/>
            <a:r>
              <a:rPr lang="en-US" dirty="0"/>
              <a:t>At a first glance, we should be able to see: </a:t>
            </a:r>
          </a:p>
          <a:p>
            <a:pPr lvl="6"/>
            <a:endParaRPr lang="en-US" dirty="0"/>
          </a:p>
          <a:p>
            <a:pPr marL="285750" lvl="6" indent="-285750">
              <a:buFont typeface="Arial" panose="020B0604020202020204" pitchFamily="34" charset="0"/>
              <a:buChar char="•"/>
            </a:pPr>
            <a:r>
              <a:rPr lang="en-US" dirty="0"/>
              <a:t>The activities</a:t>
            </a:r>
          </a:p>
          <a:p>
            <a:pPr marL="285750" lvl="6" indent="-285750">
              <a:buFont typeface="Arial" panose="020B0604020202020204" pitchFamily="34" charset="0"/>
              <a:buChar char="•"/>
            </a:pPr>
            <a:r>
              <a:rPr lang="en-US" dirty="0"/>
              <a:t>Start and end of each activity</a:t>
            </a:r>
          </a:p>
          <a:p>
            <a:pPr marL="285750" lvl="6" indent="-285750">
              <a:buFont typeface="Arial" panose="020B0604020202020204" pitchFamily="34" charset="0"/>
              <a:buChar char="•"/>
            </a:pPr>
            <a:r>
              <a:rPr lang="en-US" dirty="0"/>
              <a:t>The scheduled length of each activity</a:t>
            </a:r>
          </a:p>
          <a:p>
            <a:pPr marL="285750" lvl="6" indent="-285750">
              <a:buFont typeface="Arial" panose="020B0604020202020204" pitchFamily="34" charset="0"/>
              <a:buChar char="•"/>
            </a:pPr>
            <a:r>
              <a:rPr lang="en-US" dirty="0"/>
              <a:t>The start and end date of the whole project</a:t>
            </a:r>
          </a:p>
          <a:p>
            <a:pPr marL="285750" lvl="6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6"/>
            <a:r>
              <a:rPr lang="en-US" b="1" dirty="0"/>
              <a:t>Your timeline should be derived from </a:t>
            </a:r>
            <a:r>
              <a:rPr lang="en-AU" sz="1400" b="1" dirty="0">
                <a:sym typeface="Wingdings" panose="05000000000000000000" pitchFamily="2" charset="2"/>
              </a:rPr>
              <a:t>your WBS</a:t>
            </a:r>
            <a:r>
              <a:rPr lang="en-AU" sz="1400" dirty="0">
                <a:sym typeface="Wingdings" panose="05000000000000000000" pitchFamily="2" charset="2"/>
              </a:rPr>
              <a:t>. It can be refined and iterated after your preliminary design. </a:t>
            </a:r>
          </a:p>
          <a:p>
            <a:pPr lvl="6"/>
            <a:endParaRPr lang="en-AU" dirty="0">
              <a:sym typeface="Wingdings" panose="05000000000000000000" pitchFamily="2" charset="2"/>
            </a:endParaRPr>
          </a:p>
          <a:p>
            <a:pPr lvl="6"/>
            <a:r>
              <a:rPr lang="en-AU" sz="1400" dirty="0">
                <a:sym typeface="Wingdings" panose="05000000000000000000" pitchFamily="2" charset="2"/>
              </a:rPr>
              <a:t>Same as the WBS, the timeline should only cover the </a:t>
            </a:r>
            <a:r>
              <a:rPr lang="en-US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 and output needed to </a:t>
            </a:r>
            <a:r>
              <a:rPr lang="en-US" b="1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design, test and validate a first working prototype.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60371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37EF-836F-BD17-0C0B-9A3408D5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F848716-CDE9-BC35-6052-2651964A3FA1}"/>
              </a:ext>
            </a:extLst>
          </p:cNvPr>
          <p:cNvSpPr txBox="1"/>
          <p:nvPr/>
        </p:nvSpPr>
        <p:spPr>
          <a:xfrm>
            <a:off x="362414" y="892974"/>
            <a:ext cx="8419172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AU" sz="2800" b="1">
                <a:latin typeface="Nunito"/>
                <a:sym typeface="Nunito"/>
              </a:rPr>
              <a:t>Group Activity</a:t>
            </a:r>
            <a:endParaRPr lang="en-AU"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24;g8d8e4bb77c_0_9">
            <a:extLst>
              <a:ext uri="{FF2B5EF4-FFF2-40B4-BE49-F238E27FC236}">
                <a16:creationId xmlns:a16="http://schemas.microsoft.com/office/drawing/2014/main" id="{037C984F-A6AF-D5FC-3369-80B757431D0D}"/>
              </a:ext>
            </a:extLst>
          </p:cNvPr>
          <p:cNvSpPr txBox="1"/>
          <p:nvPr/>
        </p:nvSpPr>
        <p:spPr>
          <a:xfrm>
            <a:off x="362414" y="1652040"/>
            <a:ext cx="7790700" cy="3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Find a template online for your Gantt Chart. 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r>
              <a:rPr lang="en-US" sz="2000" dirty="0"/>
              <a:t>Use the first tasks that you completed in this subject to start your timeline. </a:t>
            </a:r>
          </a:p>
          <a:p>
            <a:pPr marL="464040" indent="-457200">
              <a:lnSpc>
                <a:spcPct val="120000"/>
              </a:lnSpc>
              <a:buClrTx/>
              <a:buSzPts val="1500"/>
              <a:buFont typeface="+mj-lt"/>
              <a:buAutoNum type="arabicPeriod"/>
            </a:pPr>
            <a:r>
              <a:rPr lang="en-US" sz="2000" b="1" dirty="0"/>
              <a:t>This section in assessment 2 is a GROUP COMPONENT</a:t>
            </a:r>
          </a:p>
          <a:p>
            <a:pPr marL="46404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9073001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8D03D-3097-1D11-9992-C7A365AEF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46B708-FD39-8386-4488-DEA74A30098A}"/>
              </a:ext>
            </a:extLst>
          </p:cNvPr>
          <p:cNvSpPr txBox="1"/>
          <p:nvPr/>
        </p:nvSpPr>
        <p:spPr>
          <a:xfrm>
            <a:off x="362414" y="892974"/>
            <a:ext cx="8419172" cy="48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AU" sz="2800" b="1" dirty="0">
                <a:latin typeface="Nunito"/>
                <a:sym typeface="Nunito"/>
              </a:rPr>
              <a:t>Group Activity</a:t>
            </a:r>
            <a:endParaRPr lang="en-AU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24;g8d8e4bb77c_0_9">
            <a:extLst>
              <a:ext uri="{FF2B5EF4-FFF2-40B4-BE49-F238E27FC236}">
                <a16:creationId xmlns:a16="http://schemas.microsoft.com/office/drawing/2014/main" id="{FE9A45FF-F02E-C8CC-C887-A0C2FD53750A}"/>
              </a:ext>
            </a:extLst>
          </p:cNvPr>
          <p:cNvSpPr txBox="1"/>
          <p:nvPr/>
        </p:nvSpPr>
        <p:spPr>
          <a:xfrm>
            <a:off x="362414" y="1652040"/>
            <a:ext cx="7790700" cy="3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marL="34974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500"/>
              <a:buFont typeface="Arial" panose="020B0604020202020204" pitchFamily="34" charset="0"/>
              <a:buChar char="•"/>
            </a:pPr>
            <a:r>
              <a:rPr lang="en-US" sz="2000" dirty="0"/>
              <a:t>Meeting minute:</a:t>
            </a:r>
          </a:p>
          <a:p>
            <a:pPr marL="914400" marR="0" lvl="1" indent="-323850" algn="l" rtl="0">
              <a:lnSpc>
                <a:spcPct val="120000"/>
              </a:lnSpc>
              <a:spcBef>
                <a:spcPts val="799"/>
              </a:spcBef>
              <a:spcAft>
                <a:spcPts val="0"/>
              </a:spcAft>
              <a:buClrTx/>
              <a:buSzPts val="1500"/>
              <a:buFont typeface="Arial"/>
              <a:buChar char="○"/>
            </a:pPr>
            <a:r>
              <a:rPr lang="en-US" sz="2000" dirty="0"/>
              <a:t>System Architecture</a:t>
            </a:r>
          </a:p>
          <a:p>
            <a:pPr marL="914400" marR="0" lvl="1" indent="-323850" algn="l" rtl="0">
              <a:lnSpc>
                <a:spcPct val="120000"/>
              </a:lnSpc>
              <a:spcBef>
                <a:spcPts val="799"/>
              </a:spcBef>
              <a:spcAft>
                <a:spcPts val="0"/>
              </a:spcAft>
              <a:buClrTx/>
              <a:buSzPts val="1500"/>
              <a:buFont typeface="Arial"/>
              <a:buChar char="○"/>
            </a:pPr>
            <a:r>
              <a:rPr lang="en-US" sz="2000" dirty="0"/>
              <a:t>Trade Studies</a:t>
            </a:r>
          </a:p>
          <a:p>
            <a:pPr marL="914400" marR="0" lvl="1" indent="-323850" algn="l" rtl="0">
              <a:lnSpc>
                <a:spcPct val="120000"/>
              </a:lnSpc>
              <a:spcBef>
                <a:spcPts val="799"/>
              </a:spcBef>
              <a:spcAft>
                <a:spcPts val="0"/>
              </a:spcAft>
              <a:buClrTx/>
              <a:buSzPts val="1500"/>
              <a:buFont typeface="Arial"/>
              <a:buChar char="○"/>
            </a:pPr>
            <a:r>
              <a:rPr lang="en-US" sz="2000" dirty="0"/>
              <a:t>WBS </a:t>
            </a:r>
          </a:p>
          <a:p>
            <a:pPr marL="914400" marR="0" lvl="1" indent="-323850" algn="l" rtl="0">
              <a:lnSpc>
                <a:spcPct val="120000"/>
              </a:lnSpc>
              <a:spcBef>
                <a:spcPts val="799"/>
              </a:spcBef>
              <a:spcAft>
                <a:spcPts val="0"/>
              </a:spcAft>
              <a:buClrTx/>
              <a:buSzPts val="1500"/>
              <a:buFont typeface="Arial"/>
              <a:buChar char="○"/>
            </a:pPr>
            <a:r>
              <a:rPr lang="en-US" sz="2000" dirty="0"/>
              <a:t>Timeline</a:t>
            </a:r>
          </a:p>
          <a:p>
            <a:pPr marL="914400" marR="0" lvl="1" indent="-323850" algn="l" rtl="0">
              <a:lnSpc>
                <a:spcPct val="120000"/>
              </a:lnSpc>
              <a:spcBef>
                <a:spcPts val="799"/>
              </a:spcBef>
              <a:spcAft>
                <a:spcPts val="0"/>
              </a:spcAft>
              <a:buClrTx/>
              <a:buSzPts val="1500"/>
              <a:buFont typeface="Arial"/>
              <a:buChar char="○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710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2281</TotalTime>
  <Words>1054</Words>
  <Application>Microsoft Office PowerPoint</Application>
  <PresentationFormat>On-screen Show (16:9)</PresentationFormat>
  <Paragraphs>216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Nunito</vt:lpstr>
      <vt:lpstr>Arial</vt:lpstr>
      <vt:lpstr>Calibri</vt:lpstr>
      <vt:lpstr>Times New Roman</vt:lpstr>
      <vt:lpstr>Cambria Math</vt:lpstr>
      <vt:lpstr>Wingdings</vt:lpstr>
      <vt:lpstr>Calibri Light</vt:lpstr>
      <vt:lpstr>Office Theme</vt:lpstr>
      <vt:lpstr>EGH419: Advanced Design and Entrepreneurship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Felipe Gonzalez</dc:creator>
  <cp:lastModifiedBy>Sebastien Boiteau</cp:lastModifiedBy>
  <cp:revision>1</cp:revision>
  <dcterms:modified xsi:type="dcterms:W3CDTF">2026-03-23T03:10:51Z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15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15</vt:i4>
  </property>
</Properties>
</file>